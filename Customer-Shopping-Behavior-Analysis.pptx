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1" r:id="rId2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 type="screen4x3"/>
  <p:notesSz cx="6858000" cy="9144000"/>
  <p:embeddedFontLst>
    <p:embeddedFont>
      <p:font typeface="Consolas" panose="020B0609020204030204" pitchFamily="49" charset="0"/>
      <p:regular r:id="rId11"/>
      <p:bold r:id="rId12"/>
      <p:italic r:id="rId13"/>
      <p:boldItalic r:id="rId14"/>
    </p:embeddedFont>
    <p:embeddedFont>
      <p:font typeface="Raleway" panose="020F0502020204030204" pitchFamily="2" charset="0"/>
      <p:regular r:id="rId15"/>
    </p:embeddedFont>
    <p:embeddedFont>
      <p:font typeface="Roboto" panose="02000000000000000000" pitchFamily="2" charset="0"/>
      <p:regular r:id="rId16"/>
    </p:embeddedFont>
    <p:embeddedFont>
      <p:font typeface="Roboto Bold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66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5" Type="http://schemas.openxmlformats.org/officeDocument/2006/relationships/slide" Target="slides/slide3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4437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A1B006A-1C4D-2AEE-A3A1-3A89FD2F0D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85281" y="6339840"/>
            <a:ext cx="2458719" cy="721360"/>
          </a:xfrm>
          <a:prstGeom prst="rect">
            <a:avLst/>
          </a:prstGeom>
        </p:spPr>
        <p:txBody>
          <a:bodyPr/>
          <a:lstStyle>
            <a:lvl2pPr>
              <a:buNone/>
              <a:defRPr/>
            </a:lvl2pPr>
          </a:lstStyle>
          <a:p>
            <a:pPr lvl="1"/>
            <a:r>
              <a:rPr lang="en-IN" dirty="0" err="1"/>
              <a:t>PrinceGupta</a:t>
            </a:r>
            <a:endParaRPr lang="en-IN" dirty="0"/>
          </a:p>
          <a:p>
            <a:pPr lvl="1"/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2F792-454B-35EF-9521-5B4C612D1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8771A6-9A2F-13EE-0C46-776C5CED65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B72E9-502B-F543-934F-FE1DC96FC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C8046-6351-4F37-9360-689CF20A73EB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8768E-3ACA-A90C-92DE-66E925B18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1DE92-EA78-8863-D831-90DB3412F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71822-6723-458B-AA1C-10FB70C45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682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16ABA-10EA-46C1-892D-BEE0330C8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78950-8D9B-034B-7196-513E951B1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F05EA3-EE08-A344-8557-B01DE3543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C8046-6351-4F37-9360-689CF20A73EB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D1C83-7EF9-BCD8-BBE8-B6DC4D755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7F228-8180-8B0C-4042-048004D91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71822-6723-458B-AA1C-10FB70C45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18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79645-8F42-1046-118E-663041274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56FAF-9C67-10ED-FC29-370787AEB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1E392-F4CF-0636-3D43-B94ECEA4F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C8046-6351-4F37-9360-689CF20A73EB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605CED-EB04-CE8C-CD59-66F306215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C0AD6-5981-BA91-A9A9-0995848F4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71822-6723-458B-AA1C-10FB70C45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528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26580-A0C2-E6B5-76BB-EBF195D77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F253D-45E7-D732-CCAD-D2326F4A53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7A620F-1A85-ACA5-6D66-37DD623A77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F07CEB-6F6E-FCBC-5884-0FDA4FE7F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C8046-6351-4F37-9360-689CF20A73EB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7133F0-161C-9EB7-7DFA-D8E02BB1E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8DBC5C-F45F-FBBD-5672-4BE07D0B4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71822-6723-458B-AA1C-10FB70C45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838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81724-6C97-70F9-4EA0-1DF8066BF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1833D1-FD94-4CC6-6E80-FED352E8FA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91C506-B37E-AEA5-B87A-EAA44E18E1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FF036C-6497-EE47-71D3-18DE0501FE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906E32-4E2D-8292-7983-055E2D63CF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BA707A-CE6A-2812-5F41-25E73A808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C8046-6351-4F37-9360-689CF20A73EB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E5CAAA-13B4-953F-36A3-2E4BFE86D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F434B1-DC32-7B25-E1C6-64E4C5D2C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71822-6723-458B-AA1C-10FB70C45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239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440ED-DEC4-B50C-1FCD-35A71E87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151C66-66A7-B726-877A-913EE48AC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C8046-6351-4F37-9360-689CF20A73EB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41B8D1-2B10-1CDC-3089-E1FDD2466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967AC2-C19A-F135-2F62-62B6B4EF1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71822-6723-458B-AA1C-10FB70C45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879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64E082-17CD-184B-CE10-327E2B6A2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C8046-6351-4F37-9360-689CF20A73EB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511E6C-8FBD-9851-9F4A-39CDE1632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079B7A-30C0-621D-0480-C8166A1CA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71822-6723-458B-AA1C-10FB70C45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298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0047A-D774-9928-866D-22D0020F7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965EA-678B-8395-8773-FE57D0E47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4618D-D061-442F-DF48-6E0095051B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5CCE37-DD14-D5A6-0B0D-2236CDFB3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C8046-6351-4F37-9360-689CF20A73EB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CF5ED5-5B03-3A18-40ED-C1C4A105B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B535F6-EF44-D47A-D215-3CCE6AACE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71822-6723-458B-AA1C-10FB70C45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05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B0BE6-658B-006E-67B5-B02ADD5D7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89F705-46AC-BE0A-90A5-43E08A3900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4BEFA5-4C28-D639-2790-CD58F4E70A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206868-00BE-BBF9-0596-2324A8FA7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C8046-6351-4F37-9360-689CF20A73EB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72D8FC-44CC-3592-3D91-53DCF550F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B00054-766C-BAB7-8D8B-6FA6B0A1D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71822-6723-458B-AA1C-10FB70C45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991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EF6B4-4D41-1402-48AD-A63CCBE03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133088-2131-D231-E1B0-DE566AF5F1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E6E1BF-7DC3-5CAA-EBD4-873EDA47F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C8046-6351-4F37-9360-689CF20A73EB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CA1BD-7B10-09A6-3818-ADA6B1009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CA49D-F75D-4866-B051-90B72CCA8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71822-6723-458B-AA1C-10FB70C45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6895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3387FB-4079-D155-4ECE-EE48A4775E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57CFBA-B294-ADB9-264F-8745C04BAD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72B07-C369-3954-1030-073764E19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C8046-6351-4F37-9360-689CF20A73EB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897BEE-32B1-3C49-CB7F-699E1A9D1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CCE4D-2679-3F6B-5CA6-F733E883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71822-6723-458B-AA1C-10FB70C45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422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760C21-90A4-522B-740E-6D901298F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18552A-5AA0-5F65-15A2-19B5EC020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2648B-918A-CC81-E55E-70E1F3E545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0C8046-6351-4F37-9360-689CF20A73EB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1343F-13E5-5E2F-AE4F-3C1C329B95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E1CFC9-CA8B-5A07-44EB-B653CB0EBB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771822-6723-458B-AA1C-10FB70C45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13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265286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375143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data-driven case study exploring transactional patterns, customer segments, and strategic insights from 3,900 purchases.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2534171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Overview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3189759"/>
            <a:ext cx="4722763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project analyzes customer shopping behavior using transactional data from </a:t>
            </a: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3,900 purchases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across various product categories. The goal is to uncover insights into spending patterns, customer segments, product preferences, and subscription behavior to guide strategic business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0565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Dataset Summary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2020714"/>
            <a:ext cx="1880592" cy="1109886"/>
          </a:xfrm>
          <a:prstGeom prst="roundRect">
            <a:avLst>
              <a:gd name="adj" fmla="val 536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2640" y="2167235"/>
            <a:ext cx="15875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Scale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2640" y="2530450"/>
            <a:ext cx="158755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3,900 Rows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</a:t>
            </a: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18 Columns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18470" y="2020714"/>
            <a:ext cx="1880592" cy="1109886"/>
          </a:xfrm>
          <a:prstGeom prst="roundRect">
            <a:avLst>
              <a:gd name="adj" fmla="val 536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64991" y="2167235"/>
            <a:ext cx="15875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Missing Data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664991" y="2530450"/>
            <a:ext cx="158755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37 values in </a:t>
            </a: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Review Rating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column</a:t>
            </a:r>
            <a:endParaRPr lang="en-US" sz="11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9701" y="2020714"/>
            <a:ext cx="3902943" cy="91164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986710" y="2181523"/>
            <a:ext cx="350512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 Demographics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986710" y="2544738"/>
            <a:ext cx="350512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Age, Gender, Location, Subscription Status</a:t>
            </a:r>
            <a:endParaRPr lang="en-US" sz="11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9701" y="3074119"/>
            <a:ext cx="3902943" cy="113846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86710" y="3234928"/>
            <a:ext cx="350512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Purchase Details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986710" y="3598143"/>
            <a:ext cx="350512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Item Purchased, Category, Purchase Amount, Season, Size, Color</a:t>
            </a:r>
            <a:endParaRPr lang="en-US" sz="11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9701" y="4354339"/>
            <a:ext cx="3902943" cy="113846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986710" y="4515148"/>
            <a:ext cx="350512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Shopping Behavior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4986710" y="4878363"/>
            <a:ext cx="350512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Discount Applied, Promo Code Used, Previous Purchases, Frequency, Review Rating, Shipping Type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6294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Exploratory Data Analysis using Python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41" y="1889447"/>
            <a:ext cx="7890644" cy="29609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02209" y="4131589"/>
            <a:ext cx="119014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Feature Eng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502299" y="4131589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Standardize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010540" y="4016955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Handle Missing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518781" y="4131589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Explore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94415" y="4131589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Load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6119" y="5009852"/>
            <a:ext cx="8151763" cy="68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cleaned DataFrame was connected to PostgreSQL via Python for downstream SQL analysis. Key steps included imputing missing Review Ratings with category-level medians, binning ages into groups, and dropping the redundant </a:t>
            </a: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column.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3826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Analysis using SQL (Business Transactions)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135609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$157K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496119" y="2780556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Male Revenue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3087067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vs. $75K from Female customers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72433" y="2135609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839</a:t>
            </a:r>
            <a:endParaRPr lang="en-US" sz="3650" dirty="0"/>
          </a:p>
        </p:txBody>
      </p:sp>
      <p:sp>
        <p:nvSpPr>
          <p:cNvPr id="7" name="Text 5"/>
          <p:cNvSpPr/>
          <p:nvPr/>
        </p:nvSpPr>
        <p:spPr>
          <a:xfrm>
            <a:off x="3272433" y="2780556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High-Spend Discount Users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72433" y="3087067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Spent above average despite using discounts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48747" y="2135609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3,116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6048747" y="2780556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Loyal Customers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048747" y="3087067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vs. 701 Returning · 83 New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6119" y="3753296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SQL Findings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96119" y="4187354"/>
            <a:ext cx="815176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Top 5 Products by Rating: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Gloves (3.86), Sandals (3.84), Boots (3.82), Hat (3.80), Skirt (3.78)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Shipping Comparison: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Express avg. $60.48 vs. Standard avg. $58.46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Subscribers: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1,053 (avg. $59.49) vs. Non-Subscribers: 2,847 (avg. $59.87)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Discount-Dependent Products: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Hat (50%), Sneakers (49.66%), Coat (49.07%), Sweater (48.17%), Pants (47.37%)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Revenue by Age Group: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Young Adult ($62,143) leads, followed by Middle-aged ($59,197), Adult ($55,978), Senior ($55,763)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02159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Dashboard in Power BI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137940"/>
            <a:ext cx="8608963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interactive dashboard was built in Power BI to present insights visually, featuring key KPIs and breakdowns by category, age group, and subscription status.</a:t>
            </a:r>
            <a:endParaRPr lang="en-US" sz="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254" y="2716188"/>
            <a:ext cx="4137496" cy="222669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79319" y="1505248"/>
            <a:ext cx="2673251" cy="101247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247930" y="1590303"/>
            <a:ext cx="136029" cy="1701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6107013" y="1958876"/>
            <a:ext cx="24178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3.9K Customers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107013" y="2226766"/>
            <a:ext cx="2417862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Avg. purchase </a:t>
            </a:r>
            <a:r>
              <a:rPr lang="en-US" sz="8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$59.76</a:t>
            </a: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Avg. rating </a:t>
            </a:r>
            <a:r>
              <a:rPr lang="en-US" sz="8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3.75</a:t>
            </a:r>
            <a:endParaRPr lang="en-US" sz="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79319" y="2608436"/>
            <a:ext cx="2673251" cy="101247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247930" y="2693491"/>
            <a:ext cx="136029" cy="1701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6107013" y="3062064"/>
            <a:ext cx="24178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Subscription Split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6107013" y="3329955"/>
            <a:ext cx="2417862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27%</a:t>
            </a: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Subscribers · </a:t>
            </a:r>
            <a:r>
              <a:rPr lang="en-US" sz="8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73%</a:t>
            </a: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Non-Subscribers</a:t>
            </a:r>
            <a:endParaRPr lang="en-US" sz="8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79319" y="3711625"/>
            <a:ext cx="2673251" cy="117574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247930" y="3796680"/>
            <a:ext cx="136029" cy="1701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6107013" y="4165253"/>
            <a:ext cx="24178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Revenue by Category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6107013" y="4433143"/>
            <a:ext cx="2417862" cy="326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Clothing ~$90K · Accessories ~$60K · Footwear ~$30K · Outerwear ~$15K</a:t>
            </a:r>
            <a:endParaRPr lang="en-US" sz="8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79319" y="4978078"/>
            <a:ext cx="2673251" cy="117574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247930" y="5063133"/>
            <a:ext cx="136029" cy="1701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050" dirty="0"/>
          </a:p>
        </p:txBody>
      </p:sp>
      <p:sp>
        <p:nvSpPr>
          <p:cNvPr id="19" name="Text 12"/>
          <p:cNvSpPr/>
          <p:nvPr/>
        </p:nvSpPr>
        <p:spPr>
          <a:xfrm>
            <a:off x="6107013" y="5431706"/>
            <a:ext cx="24178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Revenue by Age Group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6107013" y="5699596"/>
            <a:ext cx="2417862" cy="326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Young Adult leads, followed by Middle-aged, Adult, and Senior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77760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Business Recommendations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504108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6816" y="2552774"/>
            <a:ext cx="213843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956816" y="2859286"/>
            <a:ext cx="213843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Promote exclusive benefits for subscribers to grow the 27% subscriber base.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2504108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733130" y="2552774"/>
            <a:ext cx="2138437" cy="442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 Loyalty Programs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733130" y="3080742"/>
            <a:ext cx="213843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Reward repeat buyers to move them into the "Loyal" segment and reduce churn.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8747" y="2504108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09445" y="2552774"/>
            <a:ext cx="213843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Review Discount Policy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509445" y="2859286"/>
            <a:ext cx="213843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Balance sales boosts with margin control — especially for Hat, Sneakers, and Coat.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4044702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56816" y="4093369"/>
            <a:ext cx="213843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956816" y="4399880"/>
            <a:ext cx="213843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 efforts on high-revenue age groups (Young Adults) and express-shipping users.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72433" y="4044702"/>
            <a:ext cx="283518" cy="28351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733130" y="4093369"/>
            <a:ext cx="213843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Product Positioning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733130" y="4399880"/>
            <a:ext cx="213843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Highlight top-rated and best-selling products (Gloves, Sandals, Boots) in campaigns.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4F3EBC0-A00E-43E9-B7AC-A5FA1F03728A}">
  <we:reference id="wa200005566" version="3.0.1.2" store="en-US" storeType="OMEX"/>
  <we:alternateReferences>
    <we:reference id="WA200005566" version="3.0.1.2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518</Words>
  <Application>Microsoft Office PowerPoint</Application>
  <PresentationFormat>On-screen Show (4:3)</PresentationFormat>
  <Paragraphs>70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Calibri Light</vt:lpstr>
      <vt:lpstr>Roboto Bold</vt:lpstr>
      <vt:lpstr>Consolas</vt:lpstr>
      <vt:lpstr>Raleway</vt:lpstr>
      <vt:lpstr>Calibri</vt:lpstr>
      <vt:lpstr>Roboto</vt:lpstr>
      <vt:lpstr>Arial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Prince Gupta</cp:lastModifiedBy>
  <cp:revision>2</cp:revision>
  <dcterms:created xsi:type="dcterms:W3CDTF">2026-07-18T21:35:34Z</dcterms:created>
  <dcterms:modified xsi:type="dcterms:W3CDTF">2026-07-18T21:42:43Z</dcterms:modified>
</cp:coreProperties>
</file>